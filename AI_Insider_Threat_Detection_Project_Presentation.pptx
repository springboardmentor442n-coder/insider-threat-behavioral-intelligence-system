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77440" cy="109728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3840480" cy="137160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6217920"/>
            <a:ext cx="2377440" cy="502920"/>
          </a:xfrm>
          <a:prstGeom prst="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AI-Based Insider Threat Detection</a:t>
            </a:r>
            <a:br/>
            <a:r>
              <a:t>&amp; Behavioral Risk Analysis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07792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BECDE6"/>
                </a:solidFill>
                <a:latin typeface="Aptos"/>
              </a:defRPr>
            </a:pPr>
            <a:r>
              <a:t>Flask + Machine Learning + SQLite Security Operations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840480"/>
            <a:ext cx="2011680" cy="411480"/>
          </a:xfrm>
          <a:prstGeom prst="round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849624"/>
            <a:ext cx="2011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92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3DC"/>
                </a:solidFill>
                <a:latin typeface="Aptos"/>
              </a:defRPr>
            </a:pPr>
            <a:r>
              <a:t>End-to-end workflow: employee behavior → ML prediction → risk assessment → security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1920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30632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Insider threats can arise from abnormal employee behavior such as unusual logins, removable-media activity, file copying, email activity and web usage.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64008" cy="1920240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Why Automation?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39112"/>
            <a:ext cx="30632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Manual monitoring is difficult when many behavioral events must be considered together. A machine-learning system can provide consistent first-level risk assessment.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64008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0020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39112"/>
            <a:ext cx="30632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Build a web-based security tool that predicts threat status and combines ML output with behavioral risk to highlight employees needing attention.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10515600" cy="1920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72033"/>
                </a:solidFill>
                <a:latin typeface="Aptos"/>
              </a:defRPr>
            </a:pPr>
            <a:r>
              <a:t>Identify potentially abnormal employee behavior.</a:t>
            </a:r>
          </a:p>
          <a:p>
            <a:pPr>
              <a:spcAft>
                <a:spcPts val="900"/>
              </a:spcAft>
              <a:defRPr sz="1700">
                <a:solidFill>
                  <a:srgbClr val="172033"/>
                </a:solidFill>
                <a:latin typeface="Aptos"/>
              </a:defRPr>
            </a:pPr>
            <a:r>
              <a:t>Generate NORMAL / THREAT predictions using Random Forest.</a:t>
            </a:r>
          </a:p>
          <a:p>
            <a:pPr>
              <a:spcAft>
                <a:spcPts val="900"/>
              </a:spcAft>
              <a:defRPr sz="1700">
                <a:solidFill>
                  <a:srgbClr val="172033"/>
                </a:solidFill>
                <a:latin typeface="Aptos"/>
              </a:defRPr>
            </a:pPr>
            <a:r>
              <a:t>Calculate ML risk and behavioral risk separately.</a:t>
            </a:r>
          </a:p>
          <a:p>
            <a:pPr>
              <a:spcAft>
                <a:spcPts val="900"/>
              </a:spcAft>
              <a:defRPr sz="1700">
                <a:solidFill>
                  <a:srgbClr val="172033"/>
                </a:solidFill>
                <a:latin typeface="Aptos"/>
              </a:defRPr>
            </a:pPr>
            <a:r>
              <a:t>Produce an overall risk level and analyst-facing action.</a:t>
            </a:r>
          </a:p>
          <a:p>
            <a:pPr>
              <a:spcAft>
                <a:spcPts val="900"/>
              </a:spcAft>
              <a:defRPr sz="1700">
                <a:solidFill>
                  <a:srgbClr val="172033"/>
                </a:solidFill>
                <a:latin typeface="Aptos"/>
              </a:defRPr>
            </a:pPr>
            <a:r>
              <a:t>Support both individual analysis and bulk CSV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2. Objectives &amp;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1691640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Secure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3063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Login-protected Flask application for security analysts.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64008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0020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Employee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39112"/>
            <a:ext cx="3063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Create, view and manage employee behavioral profiles.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64008" cy="1691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60020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ML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39112"/>
            <a:ext cx="3063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Random Forest classifies behavior as NORMAL or THREAT.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64008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5760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Risk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96511"/>
            <a:ext cx="3063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ML risk + behavioral score → overall security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4747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474720"/>
            <a:ext cx="64008" cy="1691640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65760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Bulk CSV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096511"/>
            <a:ext cx="3063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Upload multiple employee records and analyze them together.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4747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474720"/>
            <a:ext cx="64008" cy="1691640"/>
          </a:xfrm>
          <a:prstGeom prst="rect">
            <a:avLst/>
          </a:prstGeom>
          <a:solidFill>
            <a:srgbClr val="0D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65760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096511"/>
            <a:ext cx="3063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Store and review prediction history, risk levels and model results.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3. 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3172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2331720"/>
            <a:ext cx="64008" cy="1417320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Employee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53512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CSV / web form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behavioral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3172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2331720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514600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953512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validation + feature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preparation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33172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233172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514600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953512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ML prediction +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probability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33172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233172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514600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Risk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953512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ML risk + behavioral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score + overall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33172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2331720"/>
            <a:ext cx="64008" cy="1417320"/>
          </a:xfrm>
          <a:prstGeom prst="rect">
            <a:avLst/>
          </a:prstGeom>
          <a:solidFill>
            <a:srgbClr val="0D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514600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Flask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953512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alerts, reports,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bulk results</a:t>
            </a:r>
          </a:p>
        </p:txBody>
      </p:sp>
      <p:sp>
        <p:nvSpPr>
          <p:cNvPr id="24" name="Chevron 23"/>
          <p:cNvSpPr/>
          <p:nvPr/>
        </p:nvSpPr>
        <p:spPr>
          <a:xfrm>
            <a:off x="2468880" y="2743200"/>
            <a:ext cx="320040" cy="457200"/>
          </a:xfrm>
          <a:prstGeom prst="chevron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4617720" y="2743200"/>
            <a:ext cx="320040" cy="457200"/>
          </a:xfrm>
          <a:prstGeom prst="chevron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6766560" y="2743200"/>
            <a:ext cx="320040" cy="457200"/>
          </a:xfrm>
          <a:prstGeom prst="chevron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8915400" y="2743200"/>
            <a:ext cx="320040" cy="457200"/>
          </a:xfrm>
          <a:prstGeom prst="chevron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>
            <a:off x="4069080" y="4663440"/>
            <a:ext cx="3931920" cy="914400"/>
          </a:xfrm>
          <a:prstGeom prst="can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72D"/>
                </a:solidFill>
              </a:defRPr>
            </a:pPr>
            <a:r>
              <a:t>SQLite / SQLAlchemy Database</a:t>
            </a:r>
          </a:p>
          <a:p>
            <a:pPr algn="ctr">
              <a:defRPr sz="1200">
                <a:solidFill>
                  <a:srgbClr val="647896"/>
                </a:solidFill>
              </a:defRPr>
            </a:pPr>
            <a:r>
              <a:t>Users • Employees • Predictions • Risk Indicators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3749039"/>
            <a:ext cx="18288" cy="914400"/>
          </a:xfrm>
          <a:prstGeom prst="rect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3749039"/>
            <a:ext cx="18288" cy="914400"/>
          </a:xfrm>
          <a:prstGeom prst="rect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4. Behavioral Data &amp;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64008" cy="4389120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Behavioral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48006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Login / logoff activity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Night and weekend login ratios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PC switching frequency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USB connect / disconnect activity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File-copy activity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Email and external-email activity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Website and domain activity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Personality-related features (O, C, E, A, 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64008" cy="1965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Random Forest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93392"/>
            <a:ext cx="49834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The trained Random Forest produces: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• predicted class: NORMAL or THREAT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• threat probability</a:t>
            </a:r>
          </a:p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• normal probability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61188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611880"/>
            <a:ext cx="64008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794760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Risk 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23367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ML probability is converted into ML risk. Behavioral indicators contribute an independent score. These are combined to produce LOW, MEDIUM, HIGH or CRITICAL overall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5. Risk Assessment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920240" cy="411480"/>
          </a:xfrm>
          <a:prstGeom prst="round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26464"/>
            <a:ext cx="1920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ML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38528"/>
            <a:ext cx="1920240" cy="411480"/>
          </a:xfrm>
          <a:prstGeom prst="roundRect">
            <a:avLst/>
          </a:prstGeom>
          <a:solidFill>
            <a:srgbClr val="46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1920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NORMAL / THREAT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17320"/>
            <a:ext cx="219456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426464"/>
            <a:ext cx="21945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THREAT PROBABILITY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938528"/>
            <a:ext cx="2194560" cy="411480"/>
          </a:xfrm>
          <a:prstGeom prst="roundRect">
            <a:avLst/>
          </a:prstGeom>
          <a:solidFill>
            <a:srgbClr val="46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947672"/>
            <a:ext cx="21945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e.g. 31.8%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17320"/>
            <a:ext cx="210312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26464"/>
            <a:ext cx="21031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BEHAVIORAL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938528"/>
            <a:ext cx="2103120" cy="411480"/>
          </a:xfrm>
          <a:prstGeom prst="roundRect">
            <a:avLst/>
          </a:prstGeom>
          <a:solidFill>
            <a:srgbClr val="46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47672"/>
            <a:ext cx="21031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0–100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417320"/>
            <a:ext cx="2011680" cy="411480"/>
          </a:xfrm>
          <a:prstGeom prst="roundRect">
            <a:avLst/>
          </a:prstGeom>
          <a:solidFill>
            <a:srgbClr val="0D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426464"/>
            <a:ext cx="2011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OVERALL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938528"/>
            <a:ext cx="2011680" cy="411480"/>
          </a:xfrm>
          <a:prstGeom prst="roundRect">
            <a:avLst/>
          </a:prstGeom>
          <a:solidFill>
            <a:srgbClr val="46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947672"/>
            <a:ext cx="2011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LOW → CRITICAL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2880360"/>
            <a:ext cx="10195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2880360"/>
            <a:ext cx="64008" cy="2240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06324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Important Design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502152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ML prediction and overall risk are intentionally separate. An employee may be classified as NORMAL by the classifier but still receive a HIGH/CRITICAL overall risk when behavioral indicators are severe. This lets the system distinguish classifier output from broader security risk assessment.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6. Web Application — Security Operations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896"/>
                </a:solidFill>
                <a:latin typeface="Aptos"/>
              </a:defRPr>
            </a:pPr>
            <a:r>
              <a:t>Central view for monitoring employees and security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201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9e5c9db-0ad4-46ba-affb-7bab0b206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123444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7. Bulk CSV Analysis —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4980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25e12-a2f9-4cbc-88a1-7b84298e36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3065"/>
            <a:ext cx="7498079" cy="42176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417320"/>
            <a:ext cx="64008" cy="1417320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600200"/>
            <a:ext cx="2834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CSV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039112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Multiple employee behavioral records can be submitted in one operation.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0632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3063240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246120"/>
            <a:ext cx="2834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685032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The application expects the behavioral features used by the ML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470916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4709160"/>
            <a:ext cx="64008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892040"/>
            <a:ext cx="2834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33095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Each row receives an individual prediction and risk assessment.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8. Bulk CSV Analysis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896"/>
                </a:solidFill>
                <a:latin typeface="Aptos"/>
              </a:defRPr>
            </a:pPr>
            <a:r>
              <a:t>Five employee records processed successfully in the demonstrated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113842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cdeced7-b296-4806-9441-f1806c7b08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123444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9. Reports &amp; Prediction History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543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d060dcb-0dd2-4117-b003-d77eadc62f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0206"/>
            <a:ext cx="7543800" cy="42433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41732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417320"/>
            <a:ext cx="64008" cy="1417320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600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03911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Predictions are stored and displayed chronologically.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06324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306324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246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Risk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68503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Threat probability, ML risk, risk score and overall risk are visible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470916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4709160"/>
            <a:ext cx="64008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892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330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Model name and timestamp support review of past analyses.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10. Technology Stack &amp; Data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1143000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HTML5 • CSS3 • Jinja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64008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391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Python • Flask • Blueprints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26080"/>
            <a:ext cx="64008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478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Scikit-learn • Random Forest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9260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926080"/>
            <a:ext cx="64008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478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SQLite • SQLAlchemy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3484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64008" cy="1143000"/>
          </a:xfrm>
          <a:prstGeom prst="rect">
            <a:avLst/>
          </a:prstGeom>
          <a:solidFill>
            <a:srgbClr val="0D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56631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Flask-Login • protected routes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43484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434840"/>
            <a:ext cx="64008" cy="1143000"/>
          </a:xfrm>
          <a:prstGeom prst="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61772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056631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CSV upload • employee behavioral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97880"/>
            <a:ext cx="10698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897880"/>
            <a:ext cx="64008" cy="502920"/>
          </a:xfrm>
          <a:prstGeom prst="rect">
            <a:avLst/>
          </a:prstGeom>
          <a:solidFill>
            <a:srgbClr val="0D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08076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Core Database Entities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519672"/>
            <a:ext cx="10287000" cy="-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Users • Employees • Predictions • Risk Indicators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72D"/>
                </a:solidFill>
                <a:latin typeface="Aptos Display"/>
              </a:defRPr>
            </a:pPr>
            <a:r>
              <a:t>11. Demonstrated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Bulk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5 employee records processed successfully.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54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Threat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9339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The demonstrated batch identified 2 threat predictions.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172D"/>
                </a:solidFill>
                <a:latin typeface="Aptos"/>
              </a:defRPr>
            </a:pPr>
            <a:r>
              <a:t>Critical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9339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647896"/>
                </a:solidFill>
                <a:latin typeface="Aptos"/>
              </a:defRPr>
            </a:pPr>
            <a:r>
              <a:t>2 employees received CRITICAL overall risk in the demonstrated batch.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1024128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Dashboard provides a security-operations overview.</a:t>
            </a:r>
          </a:p>
          <a:p>
            <a:pPr>
              <a:spcAft>
                <a:spcPts val="9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Reports maintain prediction history for review.</a:t>
            </a:r>
          </a:p>
          <a:p>
            <a:pPr>
              <a:spcAft>
                <a:spcPts val="9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Bulk CSV analysis scales the workflow from one employee to multiple employees.</a:t>
            </a:r>
          </a:p>
          <a:p>
            <a:pPr>
              <a:spcAft>
                <a:spcPts val="9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The final risk view combines model output with behavioral assessment.</a:t>
            </a:r>
          </a:p>
          <a:p>
            <a:pPr>
              <a:spcAft>
                <a:spcPts val="9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The system is ready for demonstration and project submission.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12.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Developed an end-to-end AI-based insider threat monitoring web application.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Integrated machine learning prediction with behavioral risk assessment.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Implemented secure analyst access, employee management, reports and bulk CSV analysis.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Created a dashboard-oriented interface for practical security monitoring.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The system provides a foundation for future enhancements such as live event streaming, alert notifications and additional ML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257800"/>
            <a:ext cx="1554480" cy="457200"/>
          </a:xfrm>
          <a:prstGeom prst="roundRect">
            <a:avLst/>
          </a:prstGeom>
          <a:solidFill>
            <a:srgbClr val="28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66944"/>
            <a:ext cx="1554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5239512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CDE6"/>
                </a:solidFill>
                <a:latin typeface="Aptos"/>
              </a:defRPr>
            </a:pPr>
            <a:r>
              <a:t>AI-Based Insider Threat Detection &amp; Behavioral Risk Analysis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89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